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e53cb0d-34fe-2d76-2f80-110318e5a96b}">
          <p14:sldIdLst>
            <p14:sldId id="256"/>
          </p14:sldIdLst>
        </p14:section>
        <p14:section name="Content" id="{68742cc2-3137-20e8-3dba-c70532f0b42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lose" id="{de87309e-14e6-6684-7e6c-b3e7b240710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the four team members. Edit the names and roll numbers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college problem: manual attendance is slow, error-prone and gives no insight. The system must manage four data points — student, subject, date, present/absent — and turn them into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web platform with role-based access. Admin sets up data, teachers mark and edit attendance, students see their own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avoid extra tooling. Each MERN component has one clear job. Auth libraries and a chart library are the only additions, and both are necessary for roles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the stack is open-source and free to start, the team already knows JavaScript, and users only need a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does not end here. Phase 2 adds smarter check-in and alerts; Phase 3 turns it into a multi-institution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across economy, students and teachers, environment, and well-being.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Smart Student Attendance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Smart Student Attendance System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MERN STACK PROJECT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972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Student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Track attendance. Generate reports. Built with MongoDB, Express, React &amp; Node.js.</a:t>
            </a:r>
            <a:endParaRPr lang="en-US" sz="1600" dirty="0"/>
          </a:p>
        </p:txBody>
      </p:sp>
      <p:sp>
        <p:nvSpPr>
          <p:cNvPr id="5" name="dot"/>
          <p:cNvSpPr/>
          <p:nvPr/>
        </p:nvSpPr>
        <p:spPr>
          <a:xfrm>
            <a:off x="548640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832104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1115568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399032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1682496" y="3749040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1965960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2249424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ot"/>
          <p:cNvSpPr/>
          <p:nvPr/>
        </p:nvSpPr>
        <p:spPr>
          <a:xfrm>
            <a:off x="2532888" y="3749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48640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832104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1115568" y="4032504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1399032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1682496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1965960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2249424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2532888" y="403250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548640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832104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1115568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dot"/>
          <p:cNvSpPr/>
          <p:nvPr/>
        </p:nvSpPr>
        <p:spPr>
          <a:xfrm>
            <a:off x="1399032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dot"/>
          <p:cNvSpPr/>
          <p:nvPr/>
        </p:nvSpPr>
        <p:spPr>
          <a:xfrm>
            <a:off x="1682496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1965960" y="4315968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2249424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2532888" y="43159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am-card"/>
          <p:cNvSpPr/>
          <p:nvPr/>
        </p:nvSpPr>
        <p:spPr>
          <a:xfrm>
            <a:off x="5532120" y="548640"/>
            <a:ext cx="3063240" cy="4023360"/>
          </a:xfrm>
          <a:prstGeom prst="roundRect">
            <a:avLst>
              <a:gd name="adj" fmla="val 41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760720" y="731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607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33" name="member-name-1"/>
          <p:cNvSpPr txBox="1"/>
          <p:nvPr/>
        </p:nvSpPr>
        <p:spPr>
          <a:xfrm>
            <a:off x="6400800" y="12070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Member Name 1</a:t>
            </a:r>
            <a:endParaRPr lang="en-US" sz="1600" dirty="0"/>
          </a:p>
        </p:txBody>
      </p:sp>
      <p:sp>
        <p:nvSpPr>
          <p:cNvPr id="34" name="member-roll-1"/>
          <p:cNvSpPr txBox="1"/>
          <p:nvPr/>
        </p:nvSpPr>
        <p:spPr>
          <a:xfrm>
            <a:off x="6400800" y="1554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Roll No: __________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76072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0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member-name-2"/>
          <p:cNvSpPr txBox="1"/>
          <p:nvPr/>
        </p:nvSpPr>
        <p:spPr>
          <a:xfrm>
            <a:off x="6400800" y="20299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Member Name 2</a:t>
            </a:r>
            <a:endParaRPr lang="en-US" sz="1600" dirty="0"/>
          </a:p>
        </p:txBody>
      </p:sp>
      <p:sp>
        <p:nvSpPr>
          <p:cNvPr id="38" name="member-roll-2"/>
          <p:cNvSpPr txBox="1"/>
          <p:nvPr/>
        </p:nvSpPr>
        <p:spPr>
          <a:xfrm>
            <a:off x="640080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Roll No: __________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76072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member-name-3"/>
          <p:cNvSpPr txBox="1"/>
          <p:nvPr/>
        </p:nvSpPr>
        <p:spPr>
          <a:xfrm>
            <a:off x="6400800" y="2852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Member Name 3</a:t>
            </a:r>
            <a:endParaRPr lang="en-US" sz="1600" dirty="0"/>
          </a:p>
        </p:txBody>
      </p:sp>
      <p:sp>
        <p:nvSpPr>
          <p:cNvPr id="42" name="member-roll-3"/>
          <p:cNvSpPr txBox="1"/>
          <p:nvPr/>
        </p:nvSpPr>
        <p:spPr>
          <a:xfrm>
            <a:off x="640080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Roll No: __________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760720" y="3749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607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45" name="member-name-4"/>
          <p:cNvSpPr txBox="1"/>
          <p:nvPr/>
        </p:nvSpPr>
        <p:spPr>
          <a:xfrm>
            <a:off x="6400800" y="36758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Member Name 4</a:t>
            </a:r>
            <a:endParaRPr lang="en-US" sz="1600" dirty="0"/>
          </a:p>
        </p:txBody>
      </p:sp>
      <p:sp>
        <p:nvSpPr>
          <p:cNvPr id="46" name="member-roll-4"/>
          <p:cNvSpPr txBox="1"/>
          <p:nvPr/>
        </p:nvSpPr>
        <p:spPr>
          <a:xfrm>
            <a:off x="6400800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Roll No: 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 ·  PROBLEM UNDERSTANDING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Attendance is still manual</a:t>
            </a:r>
            <a:endParaRPr lang="en-US" sz="3000" dirty="0"/>
          </a:p>
        </p:txBody>
      </p:sp>
      <p:sp>
        <p:nvSpPr>
          <p:cNvPr id="4" name="pain-card"/>
          <p:cNvSpPr/>
          <p:nvPr/>
        </p:nvSpPr>
        <p:spPr>
          <a:xfrm>
            <a:off x="548640" y="1371600"/>
            <a:ext cx="224028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504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Paper registers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Registers get lost, torn or filled late</a:t>
            </a:r>
            <a:endParaRPr lang="en-US" sz="1400" dirty="0"/>
          </a:p>
        </p:txBody>
      </p:sp>
      <p:sp>
        <p:nvSpPr>
          <p:cNvPr id="9" name="pain-card"/>
          <p:cNvSpPr/>
          <p:nvPr/>
        </p:nvSpPr>
        <p:spPr>
          <a:xfrm>
            <a:off x="2926080" y="1371600"/>
            <a:ext cx="224028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108960" y="153619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6504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08960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Errors &amp; proxies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10896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Typos and proxy marks go unnoticed</a:t>
            </a:r>
            <a:endParaRPr lang="en-US" sz="1400" dirty="0"/>
          </a:p>
        </p:txBody>
      </p:sp>
      <p:sp>
        <p:nvSpPr>
          <p:cNvPr id="14" name="pain-card"/>
          <p:cNvSpPr/>
          <p:nvPr/>
        </p:nvSpPr>
        <p:spPr>
          <a:xfrm>
            <a:off x="548640" y="3017520"/>
            <a:ext cx="224028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29641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1520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Wasted class time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968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Roll call eats into teaching time</a:t>
            </a:r>
            <a:endParaRPr lang="en-US" sz="1400" dirty="0"/>
          </a:p>
        </p:txBody>
      </p:sp>
      <p:sp>
        <p:nvSpPr>
          <p:cNvPr id="19" name="pain-card"/>
          <p:cNvSpPr/>
          <p:nvPr/>
        </p:nvSpPr>
        <p:spPr>
          <a:xfrm>
            <a:off x="2926080" y="3017520"/>
            <a:ext cx="224028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3108960" y="31821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329641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108960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insights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108960" y="3968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quick reports or low-attendance alerts</a:t>
            </a:r>
            <a:endParaRPr lang="en-US" sz="1400" dirty="0"/>
          </a:p>
        </p:txBody>
      </p:sp>
      <p:sp>
        <p:nvSpPr>
          <p:cNvPr id="24" name="track-card"/>
          <p:cNvSpPr/>
          <p:nvPr/>
        </p:nvSpPr>
        <p:spPr>
          <a:xfrm>
            <a:off x="5440680" y="1371600"/>
            <a:ext cx="3154680" cy="3154680"/>
          </a:xfrm>
          <a:prstGeom prst="roundRect">
            <a:avLst>
              <a:gd name="adj" fmla="val 405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566928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What the system must track</a:t>
            </a:r>
            <a:endParaRPr lang="en-US" sz="1700" dirty="0"/>
          </a:p>
        </p:txBody>
      </p:sp>
      <p:sp>
        <p:nvSpPr>
          <p:cNvPr id="26" name="icon-circle"/>
          <p:cNvSpPr/>
          <p:nvPr/>
        </p:nvSpPr>
        <p:spPr>
          <a:xfrm>
            <a:off x="5669280" y="201168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2112264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217920" y="20116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Student</a:t>
            </a:r>
            <a:endParaRPr lang="en-US" sz="1600" dirty="0"/>
          </a:p>
        </p:txBody>
      </p:sp>
      <p:sp>
        <p:nvSpPr>
          <p:cNvPr id="29" name="icon-circle"/>
          <p:cNvSpPr/>
          <p:nvPr/>
        </p:nvSpPr>
        <p:spPr>
          <a:xfrm>
            <a:off x="5669280" y="254203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864" y="264261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25420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Subject</a:t>
            </a:r>
            <a:endParaRPr lang="en-US" sz="1600" dirty="0"/>
          </a:p>
        </p:txBody>
      </p:sp>
      <p:sp>
        <p:nvSpPr>
          <p:cNvPr id="32" name="icon-circle"/>
          <p:cNvSpPr/>
          <p:nvPr/>
        </p:nvSpPr>
        <p:spPr>
          <a:xfrm>
            <a:off x="5669280" y="307238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9864" y="3172968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17920" y="30723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Date</a:t>
            </a:r>
            <a:endParaRPr lang="en-US" sz="1600" dirty="0"/>
          </a:p>
        </p:txBody>
      </p:sp>
      <p:sp>
        <p:nvSpPr>
          <p:cNvPr id="35" name="icon-circle"/>
          <p:cNvSpPr/>
          <p:nvPr/>
        </p:nvSpPr>
        <p:spPr>
          <a:xfrm>
            <a:off x="5669280" y="360273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7" descr="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9864" y="3703320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217920" y="36027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Present / Absent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566928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Goal: store it once, report it instantly.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 ·  PROPOSED SOLUTION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Mark, track, report</a:t>
            </a:r>
            <a:endParaRPr lang="en-US" sz="3000" dirty="0"/>
          </a:p>
        </p:txBody>
      </p:sp>
      <p:sp>
        <p:nvSpPr>
          <p:cNvPr id="4" name="step-card"/>
          <p:cNvSpPr/>
          <p:nvPr/>
        </p:nvSpPr>
        <p:spPr>
          <a:xfrm>
            <a:off x="548640" y="1371600"/>
            <a:ext cx="173736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7665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5179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43584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JWT-secured</a:t>
            </a:r>
            <a:endParaRPr lang="en-US" sz="1100" dirty="0"/>
          </a:p>
        </p:txBody>
      </p:sp>
      <p:pic>
        <p:nvPicPr>
          <p:cNvPr id="9" name="Image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91640"/>
            <a:ext cx="182880" cy="182880"/>
          </a:xfrm>
          <a:prstGeom prst="rect">
            <a:avLst/>
          </a:prstGeom>
        </p:spPr>
      </p:pic>
      <p:sp>
        <p:nvSpPr>
          <p:cNvPr id="10" name="step-card"/>
          <p:cNvSpPr/>
          <p:nvPr/>
        </p:nvSpPr>
        <p:spPr>
          <a:xfrm>
            <a:off x="2651760" y="1371600"/>
            <a:ext cx="173736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277977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6" y="17145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346704" y="15179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Mark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346704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Present / Absent</a:t>
            </a:r>
            <a:endParaRPr lang="en-US" sz="1100" dirty="0"/>
          </a:p>
        </p:txBody>
      </p:sp>
      <p:pic>
        <p:nvPicPr>
          <p:cNvPr id="15" name="Image 3" descr="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691640"/>
            <a:ext cx="182880" cy="182880"/>
          </a:xfrm>
          <a:prstGeom prst="rect">
            <a:avLst/>
          </a:prstGeom>
        </p:spPr>
      </p:pic>
      <p:sp>
        <p:nvSpPr>
          <p:cNvPr id="16" name="step-card"/>
          <p:cNvSpPr/>
          <p:nvPr/>
        </p:nvSpPr>
        <p:spPr>
          <a:xfrm>
            <a:off x="4754880" y="1371600"/>
            <a:ext cx="173736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488289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171450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49824" y="15179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Store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5449824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MongoDB records</a:t>
            </a:r>
            <a:endParaRPr lang="en-US" sz="1100" dirty="0"/>
          </a:p>
        </p:txBody>
      </p:sp>
      <p:pic>
        <p:nvPicPr>
          <p:cNvPr id="21" name="Image 5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691640"/>
            <a:ext cx="182880" cy="182880"/>
          </a:xfrm>
          <a:prstGeom prst="rect">
            <a:avLst/>
          </a:prstGeom>
        </p:spPr>
      </p:pic>
      <p:sp>
        <p:nvSpPr>
          <p:cNvPr id="22" name="step-card"/>
          <p:cNvSpPr/>
          <p:nvPr/>
        </p:nvSpPr>
        <p:spPr>
          <a:xfrm>
            <a:off x="6858000" y="1371600"/>
            <a:ext cx="173736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3" name="icon-circle"/>
          <p:cNvSpPr/>
          <p:nvPr/>
        </p:nvSpPr>
        <p:spPr>
          <a:xfrm>
            <a:off x="698601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0316" y="171450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552944" y="15179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7552944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Charts &amp; export</a:t>
            </a:r>
            <a:endParaRPr lang="en-US" sz="1100" dirty="0"/>
          </a:p>
        </p:txBody>
      </p:sp>
      <p:sp>
        <p:nvSpPr>
          <p:cNvPr id="27" name="role-card"/>
          <p:cNvSpPr/>
          <p:nvPr/>
        </p:nvSpPr>
        <p:spPr>
          <a:xfrm>
            <a:off x="548640" y="2606040"/>
            <a:ext cx="2560320" cy="1965960"/>
          </a:xfrm>
          <a:prstGeom prst="roundRect">
            <a:avLst>
              <a:gd name="adj" fmla="val 65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8" name="icon-circle"/>
          <p:cNvSpPr/>
          <p:nvPr/>
        </p:nvSpPr>
        <p:spPr>
          <a:xfrm>
            <a:off x="731520" y="27614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7" descr="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887218"/>
            <a:ext cx="251460" cy="25146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37160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Admin</a:t>
            </a:r>
            <a:endParaRPr lang="en-US" sz="1800" dirty="0"/>
          </a:p>
        </p:txBody>
      </p:sp>
      <p:sp>
        <p:nvSpPr>
          <p:cNvPr id="31" name="Text 21"/>
          <p:cNvSpPr txBox="1"/>
          <p:nvPr/>
        </p:nvSpPr>
        <p:spPr>
          <a:xfrm>
            <a:off x="73152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Manage students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Manage subjects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Assign teachers</a:t>
            </a:r>
            <a:endParaRPr lang="en-US" sz="1400" dirty="0"/>
          </a:p>
        </p:txBody>
      </p:sp>
      <p:sp>
        <p:nvSpPr>
          <p:cNvPr id="32" name="role-card"/>
          <p:cNvSpPr/>
          <p:nvPr/>
        </p:nvSpPr>
        <p:spPr>
          <a:xfrm>
            <a:off x="3291840" y="2606040"/>
            <a:ext cx="2560320" cy="1965960"/>
          </a:xfrm>
          <a:prstGeom prst="roundRect">
            <a:avLst>
              <a:gd name="adj" fmla="val 65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33" name="icon-circle"/>
          <p:cNvSpPr/>
          <p:nvPr/>
        </p:nvSpPr>
        <p:spPr>
          <a:xfrm>
            <a:off x="3474720" y="27614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8" descr="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450" y="2887218"/>
            <a:ext cx="251460" cy="25146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411480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Teacher</a:t>
            </a:r>
            <a:endParaRPr lang="en-US" sz="1800" dirty="0"/>
          </a:p>
        </p:txBody>
      </p:sp>
      <p:sp>
        <p:nvSpPr>
          <p:cNvPr id="36" name="Text 25"/>
          <p:cNvSpPr txBox="1"/>
          <p:nvPr/>
        </p:nvSpPr>
        <p:spPr>
          <a:xfrm>
            <a:off x="347472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Mark attendance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Edit past entries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Subject-wise reports</a:t>
            </a:r>
            <a:endParaRPr lang="en-US" sz="1400" dirty="0"/>
          </a:p>
        </p:txBody>
      </p:sp>
      <p:sp>
        <p:nvSpPr>
          <p:cNvPr id="37" name="role-card"/>
          <p:cNvSpPr/>
          <p:nvPr/>
        </p:nvSpPr>
        <p:spPr>
          <a:xfrm>
            <a:off x="6035040" y="2606040"/>
            <a:ext cx="2560320" cy="1965960"/>
          </a:xfrm>
          <a:prstGeom prst="roundRect">
            <a:avLst>
              <a:gd name="adj" fmla="val 65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38" name="icon-circle"/>
          <p:cNvSpPr/>
          <p:nvPr/>
        </p:nvSpPr>
        <p:spPr>
          <a:xfrm>
            <a:off x="6217920" y="276148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9" name="Image 9" descr="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2887218"/>
            <a:ext cx="251460" cy="25146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85800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Student</a:t>
            </a:r>
            <a:endParaRPr lang="en-US" sz="1800" dirty="0"/>
          </a:p>
        </p:txBody>
      </p:sp>
      <p:sp>
        <p:nvSpPr>
          <p:cNvPr id="41" name="Text 29"/>
          <p:cNvSpPr txBox="1"/>
          <p:nvPr/>
        </p:nvSpPr>
        <p:spPr>
          <a:xfrm>
            <a:off x="621792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View own attendance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Percentage per subject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Low-attendance warning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 ·  TECHNOLOGY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lean MERN stack</a:t>
            </a:r>
            <a:endParaRPr lang="en-US" sz="3000" dirty="0"/>
          </a:p>
        </p:txBody>
      </p:sp>
      <p:sp>
        <p:nvSpPr>
          <p:cNvPr id="4" name="tech-card"/>
          <p:cNvSpPr/>
          <p:nvPr/>
        </p:nvSpPr>
        <p:spPr>
          <a:xfrm>
            <a:off x="548640" y="1371600"/>
            <a:ext cx="1874520" cy="23317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MongoDB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DATABASE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Stores students, subjects and attendance</a:t>
            </a:r>
            <a:endParaRPr lang="en-US" sz="1400" dirty="0"/>
          </a:p>
        </p:txBody>
      </p:sp>
      <p:sp>
        <p:nvSpPr>
          <p:cNvPr id="10" name="tech-card"/>
          <p:cNvSpPr/>
          <p:nvPr/>
        </p:nvSpPr>
        <p:spPr>
          <a:xfrm>
            <a:off x="2606040" y="1371600"/>
            <a:ext cx="1874520" cy="23317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2788920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91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Express.js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REST APIs for every CRUD operation</a:t>
            </a:r>
            <a:endParaRPr lang="en-US" sz="1400" dirty="0"/>
          </a:p>
        </p:txBody>
      </p:sp>
      <p:sp>
        <p:nvSpPr>
          <p:cNvPr id="16" name="tech-card"/>
          <p:cNvSpPr/>
          <p:nvPr/>
        </p:nvSpPr>
        <p:spPr>
          <a:xfrm>
            <a:off x="4663440" y="1371600"/>
            <a:ext cx="1874520" cy="23317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484632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916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React.js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FRONTEND UI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Fast, simple dashboards for each role</a:t>
            </a:r>
            <a:endParaRPr lang="en-US" sz="1400" dirty="0"/>
          </a:p>
        </p:txBody>
      </p:sp>
      <p:sp>
        <p:nvSpPr>
          <p:cNvPr id="22" name="tech-card"/>
          <p:cNvSpPr/>
          <p:nvPr/>
        </p:nvSpPr>
        <p:spPr>
          <a:xfrm>
            <a:off x="6720840" y="1371600"/>
            <a:ext cx="1874520" cy="23317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3" name="icon-circle"/>
          <p:cNvSpPr/>
          <p:nvPr/>
        </p:nvSpPr>
        <p:spPr>
          <a:xfrm>
            <a:off x="6903720" y="1554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916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Node.js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SERVER RUNTIME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JavaScript language, end to end</a:t>
            </a:r>
            <a:endParaRPr lang="en-US" sz="1400" dirty="0"/>
          </a:p>
        </p:txBody>
      </p:sp>
      <p:sp>
        <p:nvSpPr>
          <p:cNvPr id="28" name="extras-strip"/>
          <p:cNvSpPr/>
          <p:nvPr/>
        </p:nvSpPr>
        <p:spPr>
          <a:xfrm>
            <a:off x="548640" y="3886200"/>
            <a:ext cx="8046720" cy="713232"/>
          </a:xfrm>
          <a:prstGeom prst="roundRect">
            <a:avLst>
              <a:gd name="adj" fmla="val 179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777240" y="388620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Only what's essential: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JWT + bcrypt for secure login and roles, Axios for API calls, Recharts for report charts.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 ·  FEASIBILITY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Buildable and affordable</a:t>
            </a:r>
            <a:endParaRPr lang="en-US" sz="3000" dirty="0"/>
          </a:p>
        </p:txBody>
      </p:sp>
      <p:sp>
        <p:nvSpPr>
          <p:cNvPr id="4" name="feas-card"/>
          <p:cNvSpPr/>
          <p:nvPr/>
        </p:nvSpPr>
        <p:spPr>
          <a:xfrm>
            <a:off x="548640" y="1371600"/>
            <a:ext cx="5029200" cy="969264"/>
          </a:xfrm>
          <a:prstGeom prst="roundRect">
            <a:avLst>
              <a:gd name="adj" fmla="val 13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49808" y="16002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28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463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Technical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37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Proven open-source tools that any college developer can build and maintain.</a:t>
            </a:r>
            <a:endParaRPr lang="en-US" sz="1400" dirty="0"/>
          </a:p>
        </p:txBody>
      </p:sp>
      <p:sp>
        <p:nvSpPr>
          <p:cNvPr id="9" name="feas-card"/>
          <p:cNvSpPr/>
          <p:nvPr/>
        </p:nvSpPr>
        <p:spPr>
          <a:xfrm>
            <a:off x="548640" y="2450592"/>
            <a:ext cx="5029200" cy="969264"/>
          </a:xfrm>
          <a:prstGeom prst="roundRect">
            <a:avLst>
              <a:gd name="adj" fmla="val 13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749808" y="2679192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8072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Economic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28163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licence fees. Free tiers of MongoDB Atlas, Render or Vercel can host a class-size deployment.</a:t>
            </a:r>
            <a:endParaRPr lang="en-US" sz="1400" dirty="0"/>
          </a:p>
        </p:txBody>
      </p:sp>
      <p:sp>
        <p:nvSpPr>
          <p:cNvPr id="14" name="feas-card"/>
          <p:cNvSpPr/>
          <p:nvPr/>
        </p:nvSpPr>
        <p:spPr>
          <a:xfrm>
            <a:off x="548640" y="3529584"/>
            <a:ext cx="5029200" cy="969264"/>
          </a:xfrm>
          <a:prstGeom prst="roundRect">
            <a:avLst>
              <a:gd name="adj" fmla="val 13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749808" y="3758184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8862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621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experience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89534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Runs in any browser. Marking a class takes seconds and needs no training.</a:t>
            </a:r>
            <a:endParaRPr lang="en-US" sz="1400" dirty="0"/>
          </a:p>
        </p:txBody>
      </p:sp>
      <p:sp>
        <p:nvSpPr>
          <p:cNvPr id="19" name="stat-card"/>
          <p:cNvSpPr/>
          <p:nvPr/>
        </p:nvSpPr>
        <p:spPr>
          <a:xfrm>
            <a:off x="5852160" y="1371600"/>
            <a:ext cx="2743200" cy="3163824"/>
          </a:xfrm>
          <a:prstGeom prst="roundRect">
            <a:avLst>
              <a:gd name="adj" fmla="val 4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080760" y="1481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6080760" y="2084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software licence cost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080760" y="250545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6080760" y="3108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 roles, one app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080760" y="35295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5" name="Text 20"/>
          <p:cNvSpPr txBox="1"/>
          <p:nvPr/>
        </p:nvSpPr>
        <p:spPr>
          <a:xfrm>
            <a:off x="6080760" y="4133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language: JavaScript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 ·  VIABILITY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classroom to campus</a:t>
            </a:r>
            <a:endParaRPr lang="en-US" sz="3000" dirty="0"/>
          </a:p>
        </p:txBody>
      </p:sp>
      <p:sp>
        <p:nvSpPr>
          <p:cNvPr id="4" name="phase-card"/>
          <p:cNvSpPr/>
          <p:nvPr/>
        </p:nvSpPr>
        <p:spPr>
          <a:xfrm>
            <a:off x="548640" y="2194560"/>
            <a:ext cx="2560320" cy="173736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PHASE 1  ·  NOW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system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CRUD + reports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JWT &amp; roles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Web dashboard</a:t>
            </a:r>
            <a:endParaRPr lang="en-US" sz="1400" dirty="0"/>
          </a:p>
        </p:txBody>
      </p:sp>
      <p:sp>
        <p:nvSpPr>
          <p:cNvPr id="8" name="phase-card"/>
          <p:cNvSpPr/>
          <p:nvPr/>
        </p:nvSpPr>
        <p:spPr>
          <a:xfrm>
            <a:off x="3291840" y="182880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PHASE 2  ·  NEXT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517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QR / face check-in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&amp; SMS alerts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PDF / Excel export</a:t>
            </a:r>
            <a:endParaRPr lang="en-US" sz="1400" dirty="0"/>
          </a:p>
        </p:txBody>
      </p:sp>
      <p:sp>
        <p:nvSpPr>
          <p:cNvPr id="12" name="phase-card"/>
          <p:cNvSpPr/>
          <p:nvPr/>
        </p:nvSpPr>
        <p:spPr>
          <a:xfrm>
            <a:off x="6035040" y="1463040"/>
            <a:ext cx="2560320" cy="2468880"/>
          </a:xfrm>
          <a:prstGeom prst="roundRect">
            <a:avLst>
              <a:gd name="adj" fmla="val 518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PHASE 3  ·  LATER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860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Multi-college SaaS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React Native app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At-risk analytics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LMS integration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Stateless Node.js APIs and MongoDB indexing or sharding let it grow from one class to many institutions.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 ·  IMPACT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Impact beyond the classroom</a:t>
            </a:r>
            <a:endParaRPr lang="en-US" sz="3000" dirty="0"/>
          </a:p>
        </p:txBody>
      </p:sp>
      <p:sp>
        <p:nvSpPr>
          <p:cNvPr id="4" name="impact-card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Economy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8470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Saves staff hours and printing costs. A low-cost tool any institution can adopt.</a:t>
            </a:r>
            <a:endParaRPr lang="en-US" sz="1400" dirty="0"/>
          </a:p>
        </p:txBody>
      </p:sp>
      <p:sp>
        <p:nvSpPr>
          <p:cNvPr id="9" name="impact-card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92040" y="16002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7487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Students &amp; teachers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8470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Instant records and fair tracking, so teachers spend less time on admin.</a:t>
            </a:r>
            <a:endParaRPr lang="en-US" sz="1400" dirty="0"/>
          </a:p>
        </p:txBody>
      </p:sp>
      <p:sp>
        <p:nvSpPr>
          <p:cNvPr id="14" name="impact-card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777240" y="32461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3947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49300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Paperless registers cut paper use and printing waste across the campus.</a:t>
            </a:r>
            <a:endParaRPr lang="en-US" sz="1400" dirty="0"/>
          </a:p>
        </p:txBody>
      </p:sp>
      <p:sp>
        <p:nvSpPr>
          <p:cNvPr id="19" name="impact-card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84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F">
                <a:alpha val="12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4892040" y="324612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33947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Well-being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49300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Early low-attendance alerts reduce last-minute stress and help at-risk students.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Questions and feedback are welcome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Smart Student Attendance System  ·  MERN Stack</a:t>
            </a:r>
            <a:endParaRPr lang="en-US" sz="1400" dirty="0"/>
          </a:p>
        </p:txBody>
      </p:sp>
      <p:sp>
        <p:nvSpPr>
          <p:cNvPr id="5" name="dot"/>
          <p:cNvSpPr/>
          <p:nvPr/>
        </p:nvSpPr>
        <p:spPr>
          <a:xfrm>
            <a:off x="548640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859536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1170432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481328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1792224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2103120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2414016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ot"/>
          <p:cNvSpPr/>
          <p:nvPr/>
        </p:nvSpPr>
        <p:spPr>
          <a:xfrm>
            <a:off x="2724912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3035808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3346704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3657600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3968496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4279392" y="3840480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4590288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4901184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5212080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5522976" y="3840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548640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859536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dot"/>
          <p:cNvSpPr/>
          <p:nvPr/>
        </p:nvSpPr>
        <p:spPr>
          <a:xfrm>
            <a:off x="1170432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dot"/>
          <p:cNvSpPr/>
          <p:nvPr/>
        </p:nvSpPr>
        <p:spPr>
          <a:xfrm>
            <a:off x="1481328" y="4151376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1792224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2103120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2414016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2724912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3035808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dot"/>
          <p:cNvSpPr/>
          <p:nvPr/>
        </p:nvSpPr>
        <p:spPr>
          <a:xfrm>
            <a:off x="3346704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dot"/>
          <p:cNvSpPr/>
          <p:nvPr/>
        </p:nvSpPr>
        <p:spPr>
          <a:xfrm>
            <a:off x="3657600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3968496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dot"/>
          <p:cNvSpPr/>
          <p:nvPr/>
        </p:nvSpPr>
        <p:spPr>
          <a:xfrm>
            <a:off x="4279392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dot"/>
          <p:cNvSpPr/>
          <p:nvPr/>
        </p:nvSpPr>
        <p:spPr>
          <a:xfrm>
            <a:off x="4590288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dot"/>
          <p:cNvSpPr/>
          <p:nvPr/>
        </p:nvSpPr>
        <p:spPr>
          <a:xfrm>
            <a:off x="4901184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dot"/>
          <p:cNvSpPr/>
          <p:nvPr/>
        </p:nvSpPr>
        <p:spPr>
          <a:xfrm>
            <a:off x="5212080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dot"/>
          <p:cNvSpPr/>
          <p:nvPr/>
        </p:nvSpPr>
        <p:spPr>
          <a:xfrm>
            <a:off x="5522976" y="41513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ttendance Navy Teal">
  <a:themeElements>
    <a:clrScheme name="Attendance Navy Teal">
      <a:dk1>
        <a:srgbClr val="0B1E3F"/>
      </a:dk1>
      <a:lt1>
        <a:srgbClr val="FFFFFF"/>
      </a:lt1>
      <a:dk2>
        <a:srgbClr val="16325F"/>
      </a:dk2>
      <a:lt2>
        <a:srgbClr val="EDF3FA"/>
      </a:lt2>
      <a:accent1>
        <a:srgbClr val="1FB5A6"/>
      </a:accent1>
      <a:accent2>
        <a:srgbClr val="F5B13D"/>
      </a:accent2>
      <a:accent3>
        <a:srgbClr val="3B6FD4"/>
      </a:accent3>
      <a:accent4>
        <a:srgbClr val="E5604D"/>
      </a:accent4>
      <a:accent5>
        <a:srgbClr val="5F7391"/>
      </a:accent5>
      <a:accent6>
        <a:srgbClr val="8FE3D9"/>
      </a:accent6>
      <a:hlink>
        <a:srgbClr val="3B6FD4"/>
      </a:hlink>
      <a:folHlink>
        <a:srgbClr val="5F7391"/>
      </a:folHlink>
    </a:clrScheme>
    <a:fontScheme name="Attendance Nav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Student Attendance System</dc:title>
  <dc:subject>PptxGenJS Presentation</dc:subject>
  <dc:creator>PptxGenJS</dc:creator>
  <cp:lastModifiedBy>PptxGenJS</cp:lastModifiedBy>
  <cp:revision>1</cp:revision>
  <dcterms:created xsi:type="dcterms:W3CDTF">2026-10-10T04:56:44Z</dcterms:created>
  <dcterms:modified xsi:type="dcterms:W3CDTF">2026-10-10T04:56:44Z</dcterms:modified>
</cp:coreProperties>
</file>